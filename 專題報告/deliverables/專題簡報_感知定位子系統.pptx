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latin typeface="Microsoft JhengHei"/>
                <a:ea typeface="Microsoft JhengHei"/>
              </a:rPr>
              <a:t>合成資料：Bundle Adjustment 誤差改善（像素）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重投影誤差（像素）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Sheet1!$A$2:$A$3</c:f>
              <c:strCache>
                <c:ptCount val="2"/>
                <c:pt idx="0">
                  <c:v>BA 前</c:v>
                </c:pt>
                <c:pt idx="1">
                  <c:v>BA 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3577</c:v>
                </c:pt>
                <c:pt idx="1">
                  <c:v>26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latin typeface="Microsoft Jheng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200">
                    <a:latin typeface="Microsoft JhengHei"/>
                    <a:ea typeface="Microsoft JhengHei"/>
                  </a:rPr>
                  <a:t>重投影誤差（像素）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icrosoft Jheng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本報告約 12–15 分鐘，重點放在方法與驗證架構。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640080" cy="8229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BFD3EE"/>
                </a:solidFill>
                <a:latin typeface="Microsoft JhengHei"/>
                <a:ea typeface="Microsoft JhengHei"/>
              </a:rPr>
              <a:t>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室內無人機自主導航之
感知定位子系統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5D8EF"/>
                </a:solidFill>
                <a:latin typeface="Microsoft JhengHei"/>
                <a:ea typeface="Microsoft JhengHei"/>
              </a:rPr>
              <a:t>純視覺里程計與 Bundle Adjustment 軌跡估計與驗證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BE6F4"/>
                </a:solidFill>
                <a:latin typeface="Microsoft JhengHei"/>
                <a:ea typeface="Microsoft JhengHei"/>
              </a:rPr>
              <a:t>系所／組員：【請填寫】    指導老師：【請填寫】
中華民國 115 年（2026 年）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  <a:ea typeface="Microsoft JhengHei"/>
              </a:rPr>
              <a:t>報告大綱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62626"/>
                </a:solidFill>
                <a:latin typeface="Microsoft JhengHei"/>
                <a:ea typeface="Microsoft JhengHei"/>
              </a:rPr>
              <a:t>▪ 研究背景與轉折 · 問題本質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62626"/>
                </a:solidFill>
                <a:latin typeface="Microsoft JhengHei"/>
                <a:ea typeface="Microsoft JhengHei"/>
              </a:rPr>
              <a:t>▪ 研究範圍界定與系統架構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62626"/>
                </a:solidFill>
                <a:latin typeface="Microsoft JhengHei"/>
                <a:ea typeface="Microsoft JhengHei"/>
              </a:rPr>
              <a:t>▪ 核心技術方法：增量式 PnP 前端 · Bundle Adjustment · 七道驗證閘門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62626"/>
                </a:solidFill>
                <a:latin typeface="Microsoft JhengHei"/>
                <a:ea typeface="Microsoft JhengHei"/>
              </a:rPr>
              <a:t>▪ 相關開源模型對照 與 公開基準（EuRoC）技術定位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62626"/>
                </a:solidFill>
                <a:latin typeface="Microsoft JhengHei"/>
                <a:ea typeface="Microsoft JhengHei"/>
              </a:rPr>
              <a:t>▪ 實驗結果：合成資料驗證 · 真機資料驗證 · 誠實落差分析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62626"/>
                </a:solidFill>
                <a:latin typeface="Microsoft JhengHei"/>
                <a:ea typeface="Microsoft JhengHei"/>
              </a:rPr>
              <a:t>▪ 延伸模組：ArUco Marker 絕對定位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62626"/>
                </a:solidFill>
                <a:latin typeface="Microsoft JhengHei"/>
                <a:ea typeface="Microsoft JhengHei"/>
              </a:rPr>
              <a:t>▪ 視覺化展示 · 研究貢獻 · 限制與未來工作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  <a:ea typeface="Microsoft JhengHei"/>
              </a:rPr>
              <a:t>研究背景與轉折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62626"/>
                </a:solidFill>
                <a:latin typeface="Microsoft JhengHei"/>
                <a:ea typeface="Microsoft JhengHei"/>
              </a:rPr>
              <a:t>▪ 原始題目：室內無人機自主導航系統（移動＋避障）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62626"/>
                </a:solidFill>
                <a:latin typeface="Microsoft JhengHei"/>
                <a:ea typeface="Microsoft JhengHei"/>
              </a:rPr>
              <a:t>▪ 開發過程中飛行載具損壞 → 不換題目，聚焦核心子問題：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Microsoft JhengHei"/>
                <a:ea typeface="Microsoft JhengHei"/>
              </a:rPr>
              <a:t>– 室內、無 GPS 下，無人機如何準確估計自身位置？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62626"/>
                </a:solidFill>
                <a:latin typeface="Microsoft JhengHei"/>
                <a:ea typeface="Microsoft JhengHei"/>
              </a:rPr>
              <a:t>▪ 為什麼這個轉折合理：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Microsoft JhengHei"/>
                <a:ea typeface="Microsoft JhengHei"/>
              </a:rPr>
              <a:t>– 定位（Localization）與控制（Control）為相對獨立子系統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Microsoft JhengHei"/>
                <a:ea typeface="Microsoft JhengHei"/>
              </a:rPr>
              <a:t>– 定位不準，路徑規劃與飛控再好也無法可靠運作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62626"/>
                </a:solidFill>
                <a:latin typeface="Microsoft JhengHei"/>
                <a:ea typeface="Microsoft JhengHei"/>
              </a:rPr>
              <a:t>▪ 驗證載體改為手持／手推模擬飛行軌跡：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Microsoft JhengHei"/>
                <a:ea typeface="Microsoft JhengHei"/>
              </a:rPr>
              <a:t>– 不影響定位演算法有效性，同時大幅降低風險與複雜度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  <a:ea typeface="Microsoft JhengHei"/>
              </a:rPr>
              <a:t>問題本質：室內為什麼無法用 GPS？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62626"/>
                </a:solidFill>
                <a:latin typeface="Microsoft JhengHei"/>
                <a:ea typeface="Microsoft JhengHei"/>
              </a:rPr>
              <a:t>▪ GPS 依賴衛星訊號，室內因牆體遮蔽而大幅衰減甚至完全消失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62626"/>
                </a:solidFill>
                <a:latin typeface="Microsoft JhengHei"/>
                <a:ea typeface="Microsoft JhengHei"/>
              </a:rPr>
              <a:t>▪ 所有室內自主移動載具（無人機、掃地機器人、倉儲物流機器人等）都需要替代定位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62626"/>
                </a:solidFill>
                <a:latin typeface="Microsoft JhengHei"/>
                <a:ea typeface="Microsoft JhengHei"/>
              </a:rPr>
              <a:t>▪ 主流解法之一：視覺里程計（Visual Odometry, VO）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Microsoft JhengHei"/>
                <a:ea typeface="Microsoft JhengHei"/>
              </a:rPr>
              <a:t>– 由相機連續影像估算自身相對起點的移動軌跡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Microsoft JhengHei"/>
                <a:ea typeface="Microsoft JhengHei"/>
              </a:rPr>
              <a:t>– 不需額外感測器，成本低、適用性廣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62626"/>
                </a:solidFill>
                <a:latin typeface="Microsoft JhengHei"/>
                <a:ea typeface="Microsoft JhengHei"/>
              </a:rPr>
              <a:t>▪ 本研究聚焦：純視覺（僅單一相機）＋ 誤差修正（Bundle Adjustment）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  <a:ea typeface="Microsoft JhengHei"/>
              </a:rPr>
              <a:t>研究範圍界定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JhengHei"/>
                <a:ea typeface="Microsoft JhengHe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669280"/>
                <a:gridCol w="36576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 anchor="ctr"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本研究範圍</a:t>
                      </a:r>
                    </a:p>
                  </a:txBody>
                  <a:tcPr anchor="ctr"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原因／後續規劃</a:t>
                      </a:r>
                    </a:p>
                  </a:txBody>
                  <a:tcPr anchor="ctr" marL="73152" marR="73152" marT="36576" marB="36576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感測器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僅單一相機（純視覺）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IMU 融合列為未來工作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定位性質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相對定位為主軸＋Marker 輔助絕對定位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完整 SLAM 列為未來工作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誤差修正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Bundle Adjustment 全局優化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Loop Closure 列為未來工作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驗證載體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手持／手推模擬飛行軌跡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不涉及實際飛行與馬達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座標系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房間自訂相對座標＋Marker 絕對座標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不涉及 GPS／經緯度換算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  <a:ea typeface="Microsoft JhengHei"/>
              </a:rPr>
              <a:t>系統架構：硬體與資料傳輸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JhengHei"/>
                <a:ea typeface="Microsoft Jheng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Microsoft JhengHei"/>
                <a:ea typeface="Microsoft JhengHei"/>
              </a:rPr>
              <a:t>硬體組成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Microsoft JhengHei"/>
                <a:ea typeface="Microsoft JhengHei"/>
              </a:rPr>
              <a:t>▪ ESP32S3-CAM：機載影像擷取端，WiFi / MJPEG 串流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Microsoft JhengHei"/>
                <a:ea typeface="Microsoft JhengHei"/>
              </a:rPr>
              <a:t>▪ 接收運算端：執行 VO、Bundle Adjustment 與分析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Microsoft JhengHei"/>
                <a:ea typeface="Microsoft JhengHei"/>
              </a:rPr>
              <a:t>傳輸架構與開發陷阱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Microsoft JhengHei"/>
                <a:ea typeface="Microsoft JhengHei"/>
              </a:rPr>
              <a:t>▪ STA 模式＋固定 IP；自行實作 MJPEG multipart 解析，保留幀序號／時間戳供同步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Microsoft JhengHei"/>
                <a:ea typeface="Microsoft JhengHei"/>
              </a:rPr>
              <a:t>▪ 初期 AP 模式因 Windows NCSI 判定「無網際網路」而頻繁自動斷線 → 改 STA 根本解決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Microsoft JhengHei"/>
                <a:ea typeface="Microsoft JhengHei"/>
              </a:rPr>
              <a:t>處理流程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  <a:latin typeface="Microsoft JhengHei"/>
                <a:ea typeface="Microsoft JhengHei"/>
              </a:rPr>
              <a:t>▪ 影像串流 → 特徵偵測／光流追蹤 → 增量式 PnP＋局部地圖三角化 → Bundle Adjustment →（可選）ArUco 絕對座標校正 → 軌跡輸出與定量驗證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  <a:ea typeface="Microsoft JhengHei"/>
              </a:rPr>
              <a:t>VO 前端：增量式 PnP ＋ 局部地圖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JhengHei"/>
                <a:ea typeface="Microsoft JhengHei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486400"/>
                <a:gridCol w="3931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步驟</a:t>
                      </a:r>
                    </a:p>
                  </a:txBody>
                  <a:tcPr anchor="ctr"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內容</a:t>
                      </a:r>
                    </a:p>
                  </a:txBody>
                  <a:tcPr anchor="ctr"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設計重點</a:t>
                      </a:r>
                    </a:p>
                  </a:txBody>
                  <a:tcPr anchor="ctr" marL="73152" marR="73152" marT="36576" marB="36576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1. 座標系初始化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kf0 為世界原點；kf1 以 Essential Matrix 建立初始基線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建立基準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2. 特徵追蹤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Shi-Tomasi 角點 ＋ Lucas-Kanade 光流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跨關鍵幀追蹤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3. 增量三角化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跨幀 2D 觀測三角化出 3D 地圖點，持續累積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建立局部地圖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4. 強健定位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新關鍵幀以 solvePnPRansac 對照地圖定位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抗尺度漂移／誤差累積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920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95959"/>
                </a:solidFill>
                <a:latin typeface="Microsoft JhengHei"/>
                <a:ea typeface="Microsoft JhengHei"/>
              </a:rPr>
              <a:t>目的：以「地圖點對照」取代純逐幀相對估計，從根本緩解尺度漂移與誤差累積。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  <a:ea typeface="Microsoft JhengHei"/>
              </a:rPr>
              <a:t>開發過程：四大關鍵問題與修復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JhengHei"/>
                <a:ea typeface="Microsoft JhengHei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6858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問題</a:t>
                      </a:r>
                    </a:p>
                  </a:txBody>
                  <a:tcPr anchor="ctr"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解決方式</a:t>
                      </a:r>
                    </a:p>
                  </a:txBody>
                  <a:tcPr anchor="ctr" marL="73152" marR="73152" marT="36576" marB="36576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Bootstrap 死鎖（PnP↔三角化互依）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補 kf0 slot-0 觀測；地圖點不足時退回 Essential Matrix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追蹤 ID 錯位（存活點與 ID 未同步）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實作 _surviving_ids 重建正確對應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Reset 邏輯過於敏感（頻繁無謂重置）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0 特徵才硬重置；偏低僅補充特徵點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視差角過小致三角化品質差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視差角 &lt; 2° 之點捨棄，避免污染地圖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95959"/>
                </a:solidFill>
                <a:latin typeface="Microsoft JhengHei"/>
                <a:ea typeface="Microsoft JhengHei"/>
              </a:rPr>
              <a:t>這些是增量式 SLAM 前端在實務上最常見的難點；除錯記錄與驗證數據皆完整保留。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  <a:ea typeface="Microsoft JhengHei"/>
              </a:rPr>
              <a:t>Bundle Adjustment：全局優化修正累積漂移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JhengHei"/>
                <a:ea typeface="Microsoft JhengHe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62626"/>
                </a:solidFill>
                <a:latin typeface="Microsoft JhengHei"/>
                <a:ea typeface="Microsoft JhengHei"/>
              </a:rPr>
              <a:t>▪ 聯合最佳化所有關鍵幀位姿 ＋ 地圖點 3D 座標，最小化全數觀測的重投影誤差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62626"/>
                </a:solidFill>
                <a:latin typeface="Microsoft JhengHei"/>
                <a:ea typeface="Microsoft JhengHei"/>
              </a:rPr>
              <a:t>▪ 合成資料改善：約 3577 px → 26 px（約 100 倍）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62626"/>
                </a:solidFill>
                <a:latin typeface="Microsoft JhengHei"/>
                <a:ea typeface="Microsoft JhengHei"/>
              </a:rPr>
              <a:t>▪ 證明 BA 對修正長時間運行累積漂移有顯著效果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103120" y="2834640"/>
          <a:ext cx="7955279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  <a:ea typeface="Microsoft JhengHei"/>
              </a:rPr>
              <a:t>相關開源模型與技術定位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JhengHei"/>
                <a:ea typeface="Microsoft JhengHei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097280"/>
          <a:ext cx="1088136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926080"/>
                <a:gridCol w="475488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系統</a:t>
                      </a:r>
                    </a:p>
                  </a:txBody>
                  <a:tcPr anchor="ctr"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方法路線</a:t>
                      </a:r>
                    </a:p>
                  </a:txBody>
                  <a:tcPr anchor="ctr"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關鍵能力（★ 2026-09 GitHub 觀測）</a:t>
                      </a:r>
                    </a:p>
                  </a:txBody>
                  <a:tcPr anchor="ctr" marL="73152" marR="73152" marT="36576" marB="36576"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ORB-SLAM2／ORB-SLAM3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特徵式（＋視覺慣性）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回環偵測、重定位、多子地圖（★10.2k／9.1k）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DSO／SVO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直接／半直接法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高精度、輕量即時（★2.5k／2.2k）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VINS-Mono／Fusion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視覺慣性（優化式）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IMU 緊耦合、尺度可觀（★6.0k）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OpenVINS／Kimera-VIO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濾波式 VIO／語意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研究平台、度量語意地圖（★3.1k／1.9k）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g2o／GTSAM／Ceres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後端最佳化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位姿圖優化、因子圖、Bundle Adjustment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DBoW2／hloc／evo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回環・重定位・評估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</a:rPr>
                        <a:t>詞袋檢索、大規模定位、ATE／RPE 標準工具</a:t>
                      </a:r>
                    </a:p>
                  </a:txBody>
                  <a:tcPr anchor="ctr" marL="73152" marR="73152" marT="36576" marB="36576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5262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595959"/>
                </a:solidFill>
                <a:latin typeface="Microsoft JhengHei"/>
                <a:ea typeface="Microsoft JhengHei"/>
              </a:rPr>
              <a:t>本系統＝「特徵追蹤＋局部地圖＋PnP＋BA」之精簡純視覺架構，與 DSO／SVO 同路線。
公開基準（EuRoC）：視覺慣性系統可達公分級（ORB-SLAM3 RMS 位置誤差 0.03 m）；本系統真機 ATE ≈ 154 mm。
能力邊界：缺 IMU 融合、回環偵測與重定位 → 已逐項對應可採用之開源方案。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  <a:ea typeface="Microsoft JhengHei"/>
              </a:rPr>
              <a:t>自動化驗證方法論：七道驗證閘門（P1–P7）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JhengHei"/>
                <a:ea typeface="Microsoft Jheng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62626"/>
                </a:solidFill>
                <a:latin typeface="Microsoft JhengHei"/>
                <a:ea typeface="Microsoft JhengHei"/>
              </a:rPr>
              <a:t>▪ P1 軌跡連續性　-　P2 重投影一致性（含 BA 前後比較）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62626"/>
                </a:solidFill>
                <a:latin typeface="Microsoft JhengHei"/>
                <a:ea typeface="Microsoft JhengHei"/>
              </a:rPr>
              <a:t>▪ P3 直線度　-　P4 單調性　-　P5 跳點偵測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62626"/>
                </a:solidFill>
                <a:latin typeface="Microsoft JhengHei"/>
                <a:ea typeface="Microsoft JhengHei"/>
              </a:rPr>
              <a:t>▪ P6 結構量門檻（關鍵幀／特徵點數量）　-　P7 靜止段光流檢驗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62626"/>
                </a:solidFill>
                <a:latin typeface="Microsoft JhengHei"/>
                <a:ea typeface="Microsoft JhengHei"/>
              </a:rPr>
              <a:t>▪ 在合成正、負對照組上皆測試，確保閘門能真正區分「好／壞資料」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62626"/>
                </a:solidFill>
                <a:latin typeface="Microsoft JhengHei"/>
                <a:ea typeface="Microsoft JhengHei"/>
              </a:rPr>
              <a:t>▪ 避免落入「系統看起來能動」就宣稱有效的主觀驗證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  <a:ea typeface="Microsoft JhengHei"/>
              </a:rPr>
              <a:t>實驗結果 ①：合成資料驗證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JhengHei"/>
                <a:ea typeface="Microsoft Jheng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4E79"/>
                </a:solidFill>
                <a:latin typeface="Microsoft JhengHei"/>
                <a:ea typeface="Microsoft JhengHei"/>
              </a:rPr>
              <a:t>17 / 17</a:t>
            </a:r>
          </a:p>
          <a:p>
            <a:pPr algn="ctr"/>
            <a:r>
              <a:rPr sz="1250">
                <a:solidFill>
                  <a:srgbClr val="595959"/>
                </a:solidFill>
                <a:latin typeface="Microsoft JhengHei"/>
                <a:ea typeface="Microsoft JhengHei"/>
              </a:rPr>
              <a:t>七道閘門全數通過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4630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4E79"/>
                </a:solidFill>
                <a:latin typeface="Microsoft JhengHei"/>
                <a:ea typeface="Microsoft JhengHei"/>
              </a:rPr>
              <a:t>2.4–2.8 mm</a:t>
            </a:r>
          </a:p>
          <a:p>
            <a:pPr algn="ctr"/>
            <a:r>
              <a:rPr sz="1250">
                <a:solidFill>
                  <a:srgbClr val="595959"/>
                </a:solidFill>
                <a:latin typeface="Microsoft JhengHei"/>
                <a:ea typeface="Microsoft JhengHei"/>
              </a:rPr>
              <a:t>ATE（六組測試組合）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4630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4E79"/>
                </a:solidFill>
                <a:latin typeface="Microsoft JhengHei"/>
                <a:ea typeface="Microsoft JhengHei"/>
              </a:rPr>
              <a:t>20 / 20</a:t>
            </a:r>
          </a:p>
          <a:p>
            <a:pPr algn="ctr"/>
            <a:r>
              <a:rPr sz="1250">
                <a:solidFill>
                  <a:srgbClr val="595959"/>
                </a:solidFill>
                <a:latin typeface="Microsoft JhengHei"/>
                <a:ea typeface="Microsoft JhengHei"/>
              </a:rPr>
              <a:t>演算法回歸測試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Microsoft JhengHei"/>
                <a:ea typeface="Microsoft JhengHei"/>
              </a:rPr>
              <a:t>▪ 自行開發合成序列產生器：模擬乾淨、可控的移動軌跡，提供精確地面真值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Microsoft JhengHei"/>
                <a:ea typeface="Microsoft JhengHei"/>
              </a:rPr>
              <a:t>▪ 完整通過 → 證明 VO 前端與 BA 演算法邏輯本身正確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Microsoft JhengHei"/>
                <a:ea typeface="Microsoft JhengHei"/>
              </a:rPr>
              <a:t>▪ 為後續真機驗證建立可信的技術基礎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  <a:ea typeface="Microsoft JhengHei"/>
              </a:rPr>
              <a:t>實驗結果 ②：真機資料驗證（seq_real_14）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JhengHei"/>
                <a:ea typeface="Microsoft Jheng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50" b="0">
                <a:solidFill>
                  <a:srgbClr val="262626"/>
                </a:solidFill>
                <a:latin typeface="Microsoft JhengHei"/>
                <a:ea typeface="Microsoft JhengHei"/>
              </a:rPr>
              <a:t>▪ 5×4 棋盤格（25 mm 方格）提供地面真值：成功捕獲 108/201 幀（53.7%）</a:t>
            </a:r>
          </a:p>
          <a:p>
            <a:pPr>
              <a:spcAft>
                <a:spcPts val="800"/>
              </a:spcAft>
            </a:pPr>
            <a:r>
              <a:rPr sz="1650" b="0">
                <a:solidFill>
                  <a:srgbClr val="262626"/>
                </a:solidFill>
                <a:latin typeface="Microsoft JhengHei"/>
                <a:ea typeface="Microsoft JhengHei"/>
              </a:rPr>
              <a:t>▪ 局部地圖：431 個三維地圖點、26 個關鍵幀</a:t>
            </a:r>
          </a:p>
          <a:p>
            <a:pPr>
              <a:spcAft>
                <a:spcPts val="800"/>
              </a:spcAft>
            </a:pPr>
            <a:r>
              <a:rPr sz="1650" b="0">
                <a:solidFill>
                  <a:srgbClr val="262626"/>
                </a:solidFill>
                <a:latin typeface="Microsoft JhengHei"/>
                <a:ea typeface="Microsoft JhengHei"/>
              </a:rPr>
              <a:t>▪ 重投影誤差：Pre-BA 2.05 px → Post-BA 1.24 px（收斂 RMS 0.87）</a:t>
            </a:r>
          </a:p>
          <a:p>
            <a:pPr>
              <a:spcAft>
                <a:spcPts val="800"/>
              </a:spcAft>
            </a:pPr>
            <a:r>
              <a:rPr sz="1650" b="0">
                <a:solidFill>
                  <a:srgbClr val="262626"/>
                </a:solidFill>
                <a:latin typeface="Microsoft JhengHei"/>
                <a:ea typeface="Microsoft JhengHei"/>
              </a:rPr>
              <a:t>▪ 驗證閘門：P1、P2、P6、P7 通過；P3／P4／P5 因手持移動限制未通過（已歸因、記錄）</a:t>
            </a:r>
          </a:p>
          <a:p>
            <a:pPr>
              <a:spcAft>
                <a:spcPts val="800"/>
              </a:spcAft>
            </a:pPr>
            <a:r>
              <a:rPr sz="1650" b="1">
                <a:solidFill>
                  <a:srgbClr val="262626"/>
                </a:solidFill>
                <a:latin typeface="Microsoft JhengHei"/>
                <a:ea typeface="Microsoft JhengHei"/>
              </a:rPr>
              <a:t>▪ ATE ≈ 154 mm（20/26 幀具地面真值對照，覆蓋率 76.9%）</a:t>
            </a:r>
          </a:p>
          <a:p>
            <a:pPr lvl="1">
              <a:spcAft>
                <a:spcPts val="800"/>
              </a:spcAft>
            </a:pPr>
            <a:r>
              <a:rPr sz="1450" b="0">
                <a:solidFill>
                  <a:srgbClr val="595959"/>
                </a:solidFill>
                <a:latin typeface="Microsoft JhengHei"/>
                <a:ea typeface="Microsoft JhengHei"/>
              </a:rPr>
              <a:t>– 結論：端到端定位管線在真實環境中可運作、可量化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  <a:ea typeface="Microsoft JhengHei"/>
              </a:rPr>
              <a:t>誠實落差分析 與 相機標定反思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JhengHei"/>
                <a:ea typeface="Microsoft Jheng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262626"/>
                </a:solidFill>
                <a:latin typeface="Microsoft JhengHei"/>
                <a:ea typeface="Microsoft JhengHei"/>
              </a:rPr>
              <a:t>▪ 真機 vs 合成 ATE 落差約 60 倍（154 vs 2.4–2.8 mm），成因：</a:t>
            </a:r>
          </a:p>
          <a:p>
            <a:pPr lvl="1">
              <a:spcAft>
                <a:spcPts val="800"/>
              </a:spcAft>
            </a:pPr>
            <a:r>
              <a:rPr sz="1350" b="0">
                <a:solidFill>
                  <a:srgbClr val="595959"/>
                </a:solidFill>
                <a:latin typeface="Microsoft JhengHei"/>
                <a:ea typeface="Microsoft JhengHei"/>
              </a:rPr>
              <a:t>– 地面真值量測精度、光照雜訊、標定殘差、76.9% 覆蓋率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262626"/>
                </a:solidFill>
                <a:latin typeface="Microsoft JhengHei"/>
                <a:ea typeface="Microsoft JhengHei"/>
              </a:rPr>
              <a:t>▪ 標定陷阱①：imageSize 順序錯誤 → cy=30.6 異常（敏感度分析：</a:t>
            </a:r>
          </a:p>
          <a:p>
            <a:pPr lvl="1">
              <a:spcAft>
                <a:spcPts val="800"/>
              </a:spcAft>
            </a:pPr>
            <a:r>
              <a:rPr sz="1350" b="0">
                <a:solidFill>
                  <a:srgbClr val="595959"/>
                </a:solidFill>
                <a:latin typeface="Microsoft JhengHei"/>
                <a:ea typeface="Microsoft JhengHei"/>
              </a:rPr>
              <a:t>– ATE 變異 ≤ 4.5% → 對主點偏移強健；座標尺度變異 14% → 對內參敏感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262626"/>
                </a:solidFill>
                <a:latin typeface="Microsoft JhengHei"/>
                <a:ea typeface="Microsoft JhengHei"/>
              </a:rPr>
              <a:t>▪ 標定陷阱②：焦距－畸變耦合退化（k3 = -1640）→ 要求姿態多樣性＋物理合理性檢查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262626"/>
                </a:solidFill>
                <a:latin typeface="Microsoft JhengHei"/>
                <a:ea typeface="Microsoft JhengHei"/>
              </a:rPr>
              <a:t>▪ 態度：數值、失敗與限制如實揭露，不選擇性報告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  <a:ea typeface="Microsoft JhengHei"/>
              </a:rPr>
              <a:t>延伸模組：ArUco Marker 室內絕對定位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JhengHei"/>
                <a:ea typeface="Microsoft JhengHe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Microsoft JhengHei"/>
                <a:ea typeface="Microsoft JhengHei"/>
              </a:rPr>
              <a:t>▪ 目標：把「相對座標」升級為具物理意義的「絕對座標」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Microsoft JhengHei"/>
                <a:ea typeface="Microsoft JhengHei"/>
              </a:rPr>
              <a:t>▪ 三步驟：標記部署＋量測 → solvePnPGeneric 姿態估算 → Sim3 對齊整條軌跡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Microsoft JhengHei"/>
                <a:ea typeface="Microsoft JhengHei"/>
              </a:rPr>
              <a:t>▪ 合成驗證：自測 0.000 mm　·　端到端平均誤差 52 mm　·　閘門 5/5　·　回歸 26/26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62626"/>
                </a:solidFill>
                <a:latin typeface="Microsoft JhengHei"/>
                <a:ea typeface="Microsoft JhengHei"/>
              </a:rPr>
              <a:t>▪ 尚待完成：實體硬體驗證（標記列印、佈署量測、真機穩定度與精度）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Microsoft JhengHei"/>
                <a:ea typeface="Microsoft JhengHei"/>
              </a:rPr>
              <a:t>▪ 限制：不跨場地遷移、精度受限量測工具（±5–10 mm）、標記可視範圍外退化、無重定位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  <a:ea typeface="Microsoft JhengHei"/>
              </a:rPr>
              <a:t>視覺化 與 航點導航模擬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JhengHei"/>
                <a:ea typeface="Microsoft JhengHe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62626"/>
                </a:solidFill>
                <a:latin typeface="Microsoft JhengHei"/>
                <a:ea typeface="Microsoft JhengHei"/>
              </a:rPr>
              <a:t>▪ 3D 房間模型呈現測試空間，標示各標記絕對位置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62626"/>
                </a:solidFill>
                <a:latin typeface="Microsoft JhengHei"/>
                <a:ea typeface="Microsoft JhengHei"/>
              </a:rPr>
              <a:t>▪ 並列顯示「純 VO 軌跡」（累積漂移）vs「標記校正後軌跡」（貼近真實路徑）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62626"/>
                </a:solidFill>
                <a:latin typeface="Microsoft JhengHei"/>
                <a:ea typeface="Microsoft JhengHei"/>
              </a:rPr>
              <a:t>▪ 支援靜態檢視與動畫回放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62626"/>
                </a:solidFill>
                <a:latin typeface="Microsoft JhengHei"/>
                <a:ea typeface="Microsoft JhengHei"/>
              </a:rPr>
              <a:t>▪ 航點導航模擬：即時計算方向／距離，到達判定後自動切換下一目標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Microsoft JhengHei"/>
                <a:ea typeface="Microsoft JhengHei"/>
              </a:rPr>
              <a:t>– 演示「自主移動載具導航決策」之概念；完成實體驗證後可直接替換真實資料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  <a:ea typeface="Microsoft JhengHei"/>
              </a:rPr>
              <a:t>研究貢獻 ・ 限制與未來工作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JhengHei"/>
                <a:ea typeface="Microsoft JhengHe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Microsoft JhengHei"/>
                <a:ea typeface="Microsoft JhengHei"/>
              </a:rPr>
              <a:t>研究貢獻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262626"/>
                </a:solidFill>
                <a:latin typeface="Microsoft JhengHei"/>
                <a:ea typeface="Microsoft JhengHei"/>
              </a:rPr>
              <a:t>▪ 完整可重現的純視覺定位鏈（VO→BA→驗證）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262626"/>
                </a:solidFill>
                <a:latin typeface="Microsoft JhengHei"/>
                <a:ea typeface="Microsoft JhengHei"/>
              </a:rPr>
              <a:t>▪ 兩類標定陷阱之量化分析與方法論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262626"/>
                </a:solidFill>
                <a:latin typeface="Microsoft JhengHei"/>
                <a:ea typeface="Microsoft JhengHei"/>
              </a:rPr>
              <a:t>▪ 誠實實驗設計與限制揭露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262626"/>
                </a:solidFill>
                <a:latin typeface="Microsoft JhengHei"/>
                <a:ea typeface="Microsoft JhengHei"/>
              </a:rPr>
              <a:t>▪ 相對→絕對定位之技術路徑驗證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262626"/>
                </a:solidFill>
                <a:latin typeface="Microsoft JhengHei"/>
                <a:ea typeface="Microsoft JhengHei"/>
              </a:rPr>
              <a:t>▪ 與開源生態／公開基準之對照定位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5156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Microsoft JhengHei"/>
                <a:ea typeface="Microsoft JhengHei"/>
              </a:rPr>
              <a:t>限制與未來工作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262626"/>
                </a:solidFill>
                <a:latin typeface="Microsoft JhengHei"/>
                <a:ea typeface="Microsoft JhengHei"/>
              </a:rPr>
              <a:t>▪ IMU 融合：角速度積分加入 BA 殘差項（參照 VINS／OpenVINS）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262626"/>
                </a:solidFill>
                <a:latin typeface="Microsoft JhengHei"/>
                <a:ea typeface="Microsoft JhengHei"/>
              </a:rPr>
              <a:t>▪ 回環＋重定位：DBoW2＋g2o／GTSAM（參照 ORB-SLAM2／3）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262626"/>
                </a:solidFill>
                <a:latin typeface="Microsoft JhengHei"/>
                <a:ea typeface="Microsoft JhengHei"/>
              </a:rPr>
              <a:t>▪ 延伸模組實體驗證＋AprilTag 標記選型評估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icrosoft JhengHei"/>
                <a:ea typeface="Microsoft JhengHei"/>
              </a:rPr>
              <a:t>▪ 純視覺定位系統：合成＋真機雙重定量驗證（ATE 2.4–2.8 mm / ≈154 mm）
▪ 嚴謹方法論：七道驗證閘門、敏感度分析、誠實落差揭露
▪ 延伸：ArUco 絕對定位＋Sim3 座標校正＋視覺化導航原型
▪ 對照：與 ORB-SLAM／VINS／OpenVINS 等開源模型及 EuRoC 基準明確定位能力邊界
核心價值不在「能動的系統」，而在完整可驗證、誠實面對限制的研究態度。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C5D8EF"/>
                </a:solidFill>
                <a:latin typeface="Microsoft JhengHei"/>
                <a:ea typeface="Microsoft JhengHei"/>
              </a:rPr>
              <a:t>謝謝聆聽　敬請指教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室內無人機自主導航之感知定位子系統</dc:title>
  <dc:subject>純視覺里程計與 Bundle Adjustment 軌跡估計與驗證</dc:subject>
  <dc:creator>專題研究團隊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